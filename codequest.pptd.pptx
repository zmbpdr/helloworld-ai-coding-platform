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Quattrocento Sans" charset="-122" pitchFamily="34"/>
      <p:regular r:id="rId24"/>
    </p:embeddedFont>
    <p:embeddedFont>
      <p:font typeface="Liter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4000"/>
                </a:srgbClr>
              </a:gs>
              <a:gs pos="55000">
                <a:srgbClr val="020617">
                  <a:alpha val="80000"/>
                </a:srgbClr>
              </a:gs>
              <a:gs pos="100000">
                <a:srgbClr val="020617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3048000"/>
            <a:ext cx="1016000" cy="50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3020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b="1" spc="200" kern="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CodeQuest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闯关式 AI 编程学习平台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让编程学习像游戏一样有趣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5969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编程语言 · 258 关卡 · AI 导师 · Docker 沙箱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CodeQuest ©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508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6990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860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BDF8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238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平台概览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746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三大学习板块，覆盖编程入门到AI进阶的完整学习路径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286000"/>
            <a:ext cx="46990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22860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0833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BDF8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3300" y="3238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编程闯关系统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3300" y="3746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14种编程语言 · 258关卡 · Monaco编辑器 · Docker沙箱评测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86000"/>
            <a:ext cx="46990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22860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10998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BDF8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99800" y="3238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AI导师与智能体工坊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99800" y="3746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API驱动 · 92神经元节点 · 前置依赖解锁机制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6600" y="5461000"/>
            <a:ext cx="46990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6600" y="54610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BDF8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81400" y="641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ML实验室与管理后台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81400" y="6921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JupyterLab容器化环境 · 数据仪表盘 · 全功能管理套件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93100" y="5461000"/>
            <a:ext cx="46990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93100" y="54610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597900" y="571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38BDF8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7900" y="641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技术架构与创新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7900" y="6921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FastAPI异步架构 · Docker隔离执行 · 全功能零依赖前端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0000"/>
                </a:srgbClr>
              </a:gs>
              <a:gs pos="60000">
                <a:srgbClr val="020617">
                  <a:alpha val="80000"/>
                </a:srgbClr>
              </a:gs>
              <a:gs pos="100000">
                <a:srgbClr val="020617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38BDF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4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4445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平台概览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83000" y="5397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三大学习板块，覆盖编程入门到AI进阶的完整路径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0" y="6032500"/>
            <a:ext cx="762000" cy="381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CodeQuest 平台简介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CodeQuest 是一个面向编程初学者的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闯关式 AI 编程学习平台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。用户通过编写代码通过测试用例来闯关获得经验值，平台集成 AI 导师进行实时代码错误分析，Docker 沙箱安全执行用户代码。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三大核心板块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429000"/>
            <a:ext cx="4699000" cy="393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34290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038225" y="374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381500"/>
            <a:ext cx="408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编程语言闯关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889500"/>
            <a:ext cx="408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门语言 </a:t>
            </a:r>
            <a:pPr>
              <a:lnSpc>
                <a:spcPct val="150000"/>
              </a:lnSpc>
            </a:pPr>
            <a:r>
              <a:rPr lang="en-US" sz="3600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258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课时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5651500"/>
            <a:ext cx="4089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 Python、JavaScript、Java、C++、Go、Rust 等主流编程语言，从入门到进阶的完整闯关路径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3429000"/>
            <a:ext cx="4699000" cy="393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3429000"/>
            <a:ext cx="4699000" cy="381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026150" y="3746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083300" y="4381500"/>
            <a:ext cx="408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智能体工坊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3300" y="4889500"/>
            <a:ext cx="408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条主线 </a:t>
            </a:r>
            <a:pPr>
              <a:lnSpc>
                <a:spcPct val="150000"/>
              </a:lnSpc>
            </a:pPr>
            <a:r>
              <a:rPr lang="en-US" sz="36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个节点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3300" y="5651500"/>
            <a:ext cx="4089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机器学习、Agent开发、大模型应用、深度学习等AI/ML学习主线，神经元网络解锁机制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3429000"/>
            <a:ext cx="4699000" cy="393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0" y="3429000"/>
            <a:ext cx="4699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28375" y="374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57175" y="0"/>
                </a:moveTo>
                <a:lnTo>
                  <a:pt x="114300" y="0"/>
                </a:lnTo>
                <a:cubicBezTo>
                  <a:pt x="98494" y="0"/>
                  <a:pt x="85725" y="12769"/>
                  <a:pt x="85725" y="28575"/>
                </a:cubicBezTo>
                <a:cubicBezTo>
                  <a:pt x="85725" y="44381"/>
                  <a:pt x="98494" y="57150"/>
                  <a:pt x="114300" y="57150"/>
                </a:cubicBezTo>
                <a:lnTo>
                  <a:pt x="114300" y="192435"/>
                </a:lnTo>
                <a:lnTo>
                  <a:pt x="6697" y="380673"/>
                </a:lnTo>
                <a:cubicBezTo>
                  <a:pt x="2322" y="388441"/>
                  <a:pt x="0" y="397103"/>
                  <a:pt x="0" y="406033"/>
                </a:cubicBezTo>
                <a:cubicBezTo>
                  <a:pt x="0" y="434340"/>
                  <a:pt x="22860" y="457200"/>
                  <a:pt x="51167" y="457200"/>
                </a:cubicBezTo>
                <a:lnTo>
                  <a:pt x="348883" y="457200"/>
                </a:lnTo>
                <a:cubicBezTo>
                  <a:pt x="377101" y="457200"/>
                  <a:pt x="400050" y="434340"/>
                  <a:pt x="400050" y="406033"/>
                </a:cubicBezTo>
                <a:cubicBezTo>
                  <a:pt x="400050" y="397103"/>
                  <a:pt x="397728" y="388352"/>
                  <a:pt x="393353" y="380673"/>
                </a:cubicBezTo>
                <a:lnTo>
                  <a:pt x="285750" y="192435"/>
                </a:lnTo>
                <a:lnTo>
                  <a:pt x="285750" y="57150"/>
                </a:lnTo>
                <a:cubicBezTo>
                  <a:pt x="301556" y="57150"/>
                  <a:pt x="314325" y="44381"/>
                  <a:pt x="314325" y="28575"/>
                </a:cubicBezTo>
                <a:cubicBezTo>
                  <a:pt x="314325" y="12769"/>
                  <a:pt x="301556" y="0"/>
                  <a:pt x="285750" y="0"/>
                </a:cubicBezTo>
                <a:lnTo>
                  <a:pt x="257175" y="0"/>
                </a:lnTo>
                <a:close/>
                <a:moveTo>
                  <a:pt x="171450" y="192435"/>
                </a:moveTo>
                <a:lnTo>
                  <a:pt x="171450" y="57150"/>
                </a:lnTo>
                <a:lnTo>
                  <a:pt x="228600" y="57150"/>
                </a:lnTo>
                <a:lnTo>
                  <a:pt x="228600" y="192435"/>
                </a:lnTo>
                <a:cubicBezTo>
                  <a:pt x="228600" y="202347"/>
                  <a:pt x="231190" y="212169"/>
                  <a:pt x="236101" y="220831"/>
                </a:cubicBezTo>
                <a:lnTo>
                  <a:pt x="273248" y="285750"/>
                </a:lnTo>
                <a:lnTo>
                  <a:pt x="126802" y="285750"/>
                </a:lnTo>
                <a:lnTo>
                  <a:pt x="163949" y="220831"/>
                </a:lnTo>
                <a:cubicBezTo>
                  <a:pt x="168860" y="212169"/>
                  <a:pt x="171450" y="202436"/>
                  <a:pt x="171450" y="19243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99800" y="4381500"/>
            <a:ext cx="4089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机器学习实验室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9800" y="4889500"/>
            <a:ext cx="408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pPr>
              <a:lnSpc>
                <a:spcPct val="150000"/>
              </a:lnSpc>
            </a:pPr>
            <a:r>
              <a:rPr lang="en-US" sz="3600" b="1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99800" y="5651500"/>
            <a:ext cx="4089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容器化 JupyterLab 环境，5大ML主题模板，内置合成数据生成，支持自定义数据集上传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34155">
              <a:alpha val="2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0000"/>
                </a:srgbClr>
              </a:gs>
              <a:gs pos="60000">
                <a:srgbClr val="020617">
                  <a:alpha val="80000"/>
                </a:srgbClr>
              </a:gs>
              <a:gs pos="100000">
                <a:srgbClr val="020617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38BDF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4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3000" y="4445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编程闯关系统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48000" y="539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14种编程语言 · 258关卡 · Monaco编辑器 · Docker沙箱评测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0" y="6032500"/>
            <a:ext cx="762000" cy="381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核心评测与编辑功能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175500" cy="3175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50800" cy="3175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406400" y="355600"/>
                </a:lnTo>
                <a:cubicBezTo>
                  <a:pt x="434419" y="355600"/>
                  <a:pt x="457200" y="332819"/>
                  <a:pt x="457200" y="304800"/>
                </a:cubicBezTo>
                <a:lnTo>
                  <a:pt x="457200" y="101600"/>
                </a:lnTo>
                <a:cubicBezTo>
                  <a:pt x="457200" y="73581"/>
                  <a:pt x="434419" y="50800"/>
                  <a:pt x="406400" y="50800"/>
                </a:cubicBezTo>
                <a:lnTo>
                  <a:pt x="50800" y="50800"/>
                </a:lnTo>
                <a:close/>
                <a:moveTo>
                  <a:pt x="63500" y="101600"/>
                </a:moveTo>
                <a:lnTo>
                  <a:pt x="88900" y="101600"/>
                </a:lnTo>
                <a:cubicBezTo>
                  <a:pt x="95885" y="101600"/>
                  <a:pt x="101600" y="107315"/>
                  <a:pt x="101600" y="114300"/>
                </a:cubicBezTo>
                <a:lnTo>
                  <a:pt x="101600" y="139700"/>
                </a:lnTo>
                <a:cubicBezTo>
                  <a:pt x="101600" y="14668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46685"/>
                  <a:pt x="50800" y="139700"/>
                </a:cubicBezTo>
                <a:lnTo>
                  <a:pt x="50800" y="114300"/>
                </a:lnTo>
                <a:cubicBezTo>
                  <a:pt x="50800" y="107315"/>
                  <a:pt x="56515" y="101600"/>
                  <a:pt x="63500" y="101600"/>
                </a:cubicBezTo>
                <a:close/>
                <a:moveTo>
                  <a:pt x="50800" y="190500"/>
                </a:moveTo>
                <a:cubicBezTo>
                  <a:pt x="50800" y="183515"/>
                  <a:pt x="56515" y="177800"/>
                  <a:pt x="63500" y="177800"/>
                </a:cubicBezTo>
                <a:lnTo>
                  <a:pt x="88900" y="177800"/>
                </a:lnTo>
                <a:cubicBezTo>
                  <a:pt x="95885" y="177800"/>
                  <a:pt x="101600" y="183515"/>
                  <a:pt x="101600" y="190500"/>
                </a:cubicBezTo>
                <a:lnTo>
                  <a:pt x="101600" y="215900"/>
                </a:lnTo>
                <a:cubicBezTo>
                  <a:pt x="101600" y="222885"/>
                  <a:pt x="95885" y="228600"/>
                  <a:pt x="88900" y="228600"/>
                </a:cubicBezTo>
                <a:lnTo>
                  <a:pt x="63500" y="228600"/>
                </a:lnTo>
                <a:cubicBezTo>
                  <a:pt x="56515" y="228600"/>
                  <a:pt x="50800" y="222885"/>
                  <a:pt x="50800" y="215900"/>
                </a:cubicBezTo>
                <a:lnTo>
                  <a:pt x="50800" y="190500"/>
                </a:lnTo>
                <a:close/>
                <a:moveTo>
                  <a:pt x="139700" y="101600"/>
                </a:moveTo>
                <a:lnTo>
                  <a:pt x="165100" y="101600"/>
                </a:lnTo>
                <a:cubicBezTo>
                  <a:pt x="172085" y="101600"/>
                  <a:pt x="177800" y="107315"/>
                  <a:pt x="177800" y="114300"/>
                </a:cubicBezTo>
                <a:lnTo>
                  <a:pt x="177800" y="139700"/>
                </a:lnTo>
                <a:cubicBezTo>
                  <a:pt x="177800" y="146685"/>
                  <a:pt x="172085" y="152400"/>
                  <a:pt x="165100" y="152400"/>
                </a:cubicBezTo>
                <a:lnTo>
                  <a:pt x="139700" y="152400"/>
                </a:lnTo>
                <a:cubicBezTo>
                  <a:pt x="132715" y="152400"/>
                  <a:pt x="127000" y="146685"/>
                  <a:pt x="127000" y="139700"/>
                </a:cubicBezTo>
                <a:lnTo>
                  <a:pt x="127000" y="114300"/>
                </a:lnTo>
                <a:cubicBezTo>
                  <a:pt x="127000" y="107315"/>
                  <a:pt x="132715" y="101600"/>
                  <a:pt x="139700" y="101600"/>
                </a:cubicBezTo>
                <a:close/>
                <a:moveTo>
                  <a:pt x="127000" y="190500"/>
                </a:moveTo>
                <a:cubicBezTo>
                  <a:pt x="127000" y="183515"/>
                  <a:pt x="132715" y="177800"/>
                  <a:pt x="139700" y="177800"/>
                </a:cubicBezTo>
                <a:lnTo>
                  <a:pt x="165100" y="177800"/>
                </a:lnTo>
                <a:cubicBezTo>
                  <a:pt x="172085" y="177800"/>
                  <a:pt x="177800" y="183515"/>
                  <a:pt x="177800" y="190500"/>
                </a:cubicBezTo>
                <a:lnTo>
                  <a:pt x="177800" y="215900"/>
                </a:lnTo>
                <a:cubicBezTo>
                  <a:pt x="177800" y="222885"/>
                  <a:pt x="172085" y="228600"/>
                  <a:pt x="165100" y="228600"/>
                </a:cubicBezTo>
                <a:lnTo>
                  <a:pt x="139700" y="228600"/>
                </a:lnTo>
                <a:cubicBezTo>
                  <a:pt x="132715" y="228600"/>
                  <a:pt x="127000" y="222885"/>
                  <a:pt x="127000" y="215900"/>
                </a:cubicBezTo>
                <a:lnTo>
                  <a:pt x="127000" y="190500"/>
                </a:lnTo>
                <a:close/>
                <a:moveTo>
                  <a:pt x="139700" y="254000"/>
                </a:moveTo>
                <a:lnTo>
                  <a:pt x="317500" y="254000"/>
                </a:lnTo>
                <a:cubicBezTo>
                  <a:pt x="324485" y="254000"/>
                  <a:pt x="330200" y="259715"/>
                  <a:pt x="330200" y="266700"/>
                </a:cubicBezTo>
                <a:lnTo>
                  <a:pt x="330200" y="292100"/>
                </a:lnTo>
                <a:cubicBezTo>
                  <a:pt x="330200" y="299085"/>
                  <a:pt x="324485" y="304800"/>
                  <a:pt x="317500" y="304800"/>
                </a:cubicBezTo>
                <a:lnTo>
                  <a:pt x="139700" y="304800"/>
                </a:lnTo>
                <a:cubicBezTo>
                  <a:pt x="132715" y="304800"/>
                  <a:pt x="127000" y="299085"/>
                  <a:pt x="127000" y="292100"/>
                </a:cubicBezTo>
                <a:lnTo>
                  <a:pt x="127000" y="266700"/>
                </a:lnTo>
                <a:cubicBezTo>
                  <a:pt x="127000" y="259715"/>
                  <a:pt x="132715" y="254000"/>
                  <a:pt x="139700" y="254000"/>
                </a:cubicBezTo>
                <a:close/>
                <a:moveTo>
                  <a:pt x="203200" y="114300"/>
                </a:moveTo>
                <a:cubicBezTo>
                  <a:pt x="203200" y="107315"/>
                  <a:pt x="208915" y="101600"/>
                  <a:pt x="215900" y="101600"/>
                </a:cubicBezTo>
                <a:lnTo>
                  <a:pt x="241300" y="101600"/>
                </a:lnTo>
                <a:cubicBezTo>
                  <a:pt x="248285" y="101600"/>
                  <a:pt x="254000" y="107315"/>
                  <a:pt x="254000" y="114300"/>
                </a:cubicBezTo>
                <a:lnTo>
                  <a:pt x="254000" y="139700"/>
                </a:lnTo>
                <a:cubicBezTo>
                  <a:pt x="254000" y="146685"/>
                  <a:pt x="248285" y="152400"/>
                  <a:pt x="241300" y="152400"/>
                </a:cubicBezTo>
                <a:lnTo>
                  <a:pt x="215900" y="152400"/>
                </a:lnTo>
                <a:cubicBezTo>
                  <a:pt x="208915" y="152400"/>
                  <a:pt x="203200" y="146685"/>
                  <a:pt x="203200" y="139700"/>
                </a:cubicBezTo>
                <a:lnTo>
                  <a:pt x="203200" y="114300"/>
                </a:lnTo>
                <a:close/>
                <a:moveTo>
                  <a:pt x="215900" y="177800"/>
                </a:moveTo>
                <a:lnTo>
                  <a:pt x="241300" y="177800"/>
                </a:lnTo>
                <a:cubicBezTo>
                  <a:pt x="248285" y="177800"/>
                  <a:pt x="254000" y="183515"/>
                  <a:pt x="254000" y="190500"/>
                </a:cubicBezTo>
                <a:lnTo>
                  <a:pt x="254000" y="215900"/>
                </a:lnTo>
                <a:cubicBezTo>
                  <a:pt x="254000" y="222885"/>
                  <a:pt x="248285" y="228600"/>
                  <a:pt x="241300" y="228600"/>
                </a:cubicBezTo>
                <a:lnTo>
                  <a:pt x="215900" y="228600"/>
                </a:lnTo>
                <a:cubicBezTo>
                  <a:pt x="208915" y="228600"/>
                  <a:pt x="203200" y="222885"/>
                  <a:pt x="203200" y="215900"/>
                </a:cubicBezTo>
                <a:lnTo>
                  <a:pt x="203200" y="190500"/>
                </a:lnTo>
                <a:cubicBezTo>
                  <a:pt x="203200" y="183515"/>
                  <a:pt x="208915" y="177800"/>
                  <a:pt x="215900" y="177800"/>
                </a:cubicBezTo>
                <a:close/>
                <a:moveTo>
                  <a:pt x="279400" y="114300"/>
                </a:moveTo>
                <a:cubicBezTo>
                  <a:pt x="279400" y="107315"/>
                  <a:pt x="285115" y="101600"/>
                  <a:pt x="292100" y="101600"/>
                </a:cubicBezTo>
                <a:lnTo>
                  <a:pt x="317500" y="101600"/>
                </a:lnTo>
                <a:cubicBezTo>
                  <a:pt x="324485" y="101600"/>
                  <a:pt x="330200" y="107315"/>
                  <a:pt x="330200" y="114300"/>
                </a:cubicBezTo>
                <a:lnTo>
                  <a:pt x="330200" y="139700"/>
                </a:lnTo>
                <a:cubicBezTo>
                  <a:pt x="330200" y="146685"/>
                  <a:pt x="324485" y="152400"/>
                  <a:pt x="317500" y="152400"/>
                </a:cubicBezTo>
                <a:lnTo>
                  <a:pt x="292100" y="152400"/>
                </a:lnTo>
                <a:cubicBezTo>
                  <a:pt x="285115" y="152400"/>
                  <a:pt x="279400" y="146685"/>
                  <a:pt x="279400" y="139700"/>
                </a:cubicBezTo>
                <a:lnTo>
                  <a:pt x="279400" y="114300"/>
                </a:lnTo>
                <a:close/>
                <a:moveTo>
                  <a:pt x="292100" y="177800"/>
                </a:moveTo>
                <a:lnTo>
                  <a:pt x="317500" y="177800"/>
                </a:lnTo>
                <a:cubicBezTo>
                  <a:pt x="324485" y="177800"/>
                  <a:pt x="330200" y="183515"/>
                  <a:pt x="330200" y="190500"/>
                </a:cubicBezTo>
                <a:lnTo>
                  <a:pt x="330200" y="215900"/>
                </a:lnTo>
                <a:cubicBezTo>
                  <a:pt x="330200" y="222885"/>
                  <a:pt x="324485" y="228600"/>
                  <a:pt x="317500" y="228600"/>
                </a:cubicBezTo>
                <a:lnTo>
                  <a:pt x="292100" y="228600"/>
                </a:lnTo>
                <a:cubicBezTo>
                  <a:pt x="285115" y="228600"/>
                  <a:pt x="279400" y="222885"/>
                  <a:pt x="279400" y="215900"/>
                </a:cubicBezTo>
                <a:lnTo>
                  <a:pt x="279400" y="190500"/>
                </a:lnTo>
                <a:cubicBezTo>
                  <a:pt x="279400" y="183515"/>
                  <a:pt x="285115" y="177800"/>
                  <a:pt x="292100" y="177800"/>
                </a:cubicBezTo>
                <a:close/>
                <a:moveTo>
                  <a:pt x="355600" y="114300"/>
                </a:moveTo>
                <a:cubicBezTo>
                  <a:pt x="355600" y="107315"/>
                  <a:pt x="361315" y="101600"/>
                  <a:pt x="368300" y="101600"/>
                </a:cubicBezTo>
                <a:lnTo>
                  <a:pt x="393700" y="101600"/>
                </a:lnTo>
                <a:cubicBezTo>
                  <a:pt x="400685" y="101600"/>
                  <a:pt x="406400" y="107315"/>
                  <a:pt x="406400" y="114300"/>
                </a:cubicBezTo>
                <a:lnTo>
                  <a:pt x="406400" y="139700"/>
                </a:lnTo>
                <a:cubicBezTo>
                  <a:pt x="406400" y="14668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46685"/>
                  <a:pt x="355600" y="139700"/>
                </a:cubicBezTo>
                <a:lnTo>
                  <a:pt x="355600" y="114300"/>
                </a:lnTo>
                <a:close/>
                <a:moveTo>
                  <a:pt x="368300" y="177800"/>
                </a:moveTo>
                <a:lnTo>
                  <a:pt x="393700" y="177800"/>
                </a:lnTo>
                <a:cubicBezTo>
                  <a:pt x="400685" y="177800"/>
                  <a:pt x="406400" y="183515"/>
                  <a:pt x="406400" y="190500"/>
                </a:cubicBezTo>
                <a:lnTo>
                  <a:pt x="406400" y="215900"/>
                </a:lnTo>
                <a:cubicBezTo>
                  <a:pt x="406400" y="222885"/>
                  <a:pt x="400685" y="228600"/>
                  <a:pt x="393700" y="228600"/>
                </a:cubicBezTo>
                <a:lnTo>
                  <a:pt x="368300" y="228600"/>
                </a:lnTo>
                <a:cubicBezTo>
                  <a:pt x="361315" y="228600"/>
                  <a:pt x="355600" y="222885"/>
                  <a:pt x="355600" y="215900"/>
                </a:cubicBezTo>
                <a:lnTo>
                  <a:pt x="355600" y="190500"/>
                </a:lnTo>
                <a:cubicBezTo>
                  <a:pt x="355600" y="183515"/>
                  <a:pt x="361315" y="177800"/>
                  <a:pt x="368300" y="1778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625600" y="2032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Monaco 代码编辑器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603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支持 14 种编程语言语法高亮和智能提示，提供 VS Code 级别的编辑体验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3492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语法高亮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智能提示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语言支持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18500" y="1778000"/>
            <a:ext cx="7175500" cy="3175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8500" y="1778000"/>
            <a:ext cx="50800" cy="3175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674100" y="2032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82100" y="2032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智能评测引擎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23300" y="2603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级匹配策略，支持部分通过按比例得分——不只有 0/100 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3300" y="34925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精确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去空白 → 忽略大小写 → 包含 → 浮点近似 →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去所有空白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70500"/>
            <a:ext cx="71755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270500"/>
            <a:ext cx="50800" cy="2921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625600" y="5524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沙箱执行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6096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安全的代码执行环境，完全隔离用户代码与宿主系统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985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no-network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root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256MB tmpfs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18500" y="5270500"/>
            <a:ext cx="71755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8318500" y="5270500"/>
            <a:ext cx="50800" cy="2921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7900" y="552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9182100" y="5524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星级评分与统计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23300" y="6096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0-5★ 评分体系，满分且快速执行获 5★，附带耗时趋势与错误分析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23300" y="6985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0-5★ 评分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耗时趋势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错误分布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语言 · 258 课时课程体系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9525000" cy="4826000"/>
        </p:xfrm>
        <a:graphic>
          <a:graphicData uri="http://schemas.openxmlformats.org/drawingml/2006/table">
            <a:tbl>
              <a:tblPr/>
              <a:tblGrid>
                <a:gridCol w="3333750"/>
                <a:gridCol w="1428750"/>
                <a:gridCol w="3333750"/>
                <a:gridCol w="1428750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语言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课时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语言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课时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Python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Go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D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JavaScript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D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Rust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8C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Java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8C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TypeScript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84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C++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84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SQL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72B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Ruby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72B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Swift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Kotlin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PHP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A3E6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Shell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A3E6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Lua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668000" y="1714500"/>
            <a:ext cx="4826000" cy="482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10985500" y="1968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附加功能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85500" y="2476500"/>
            <a:ext cx="4191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6"/>
          <p:cNvSpPr/>
          <p:nvPr/>
        </p:nvSpPr>
        <p:spPr>
          <a:xfrm>
            <a:off x="11004550" y="2730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95548" y="-15716"/>
                </a:moveTo>
                <a:cubicBezTo>
                  <a:pt x="101084" y="-20360"/>
                  <a:pt x="109240" y="-20181"/>
                  <a:pt x="114538" y="-15180"/>
                </a:cubicBezTo>
                <a:cubicBezTo>
                  <a:pt x="121860" y="-8275"/>
                  <a:pt x="128409" y="-655"/>
                  <a:pt x="134719" y="7084"/>
                </a:cubicBezTo>
                <a:cubicBezTo>
                  <a:pt x="142756" y="16907"/>
                  <a:pt x="152400" y="29885"/>
                  <a:pt x="161687" y="45303"/>
                </a:cubicBezTo>
                <a:cubicBezTo>
                  <a:pt x="164783" y="41255"/>
                  <a:pt x="167640" y="37683"/>
                  <a:pt x="170140" y="34647"/>
                </a:cubicBezTo>
                <a:cubicBezTo>
                  <a:pt x="170795" y="33873"/>
                  <a:pt x="171450" y="33040"/>
                  <a:pt x="172105" y="32206"/>
                </a:cubicBezTo>
                <a:cubicBezTo>
                  <a:pt x="176808" y="26372"/>
                  <a:pt x="182642" y="19050"/>
                  <a:pt x="190440" y="19050"/>
                </a:cubicBezTo>
                <a:cubicBezTo>
                  <a:pt x="198418" y="19050"/>
                  <a:pt x="204014" y="26134"/>
                  <a:pt x="208776" y="32206"/>
                </a:cubicBezTo>
                <a:cubicBezTo>
                  <a:pt x="209550" y="33218"/>
                  <a:pt x="210324" y="34171"/>
                  <a:pt x="211098" y="35064"/>
                </a:cubicBezTo>
                <a:cubicBezTo>
                  <a:pt x="217230" y="42446"/>
                  <a:pt x="225385" y="53102"/>
                  <a:pt x="233541" y="66258"/>
                </a:cubicBezTo>
                <a:cubicBezTo>
                  <a:pt x="249734" y="92393"/>
                  <a:pt x="266640" y="129600"/>
                  <a:pt x="266640" y="171390"/>
                </a:cubicBezTo>
                <a:cubicBezTo>
                  <a:pt x="266640" y="245031"/>
                  <a:pt x="206931" y="304740"/>
                  <a:pt x="133290" y="304740"/>
                </a:cubicBezTo>
                <a:cubicBezTo>
                  <a:pt x="59650" y="304740"/>
                  <a:pt x="0" y="245090"/>
                  <a:pt x="0" y="171450"/>
                </a:cubicBezTo>
                <a:cubicBezTo>
                  <a:pt x="0" y="117217"/>
                  <a:pt x="24467" y="70247"/>
                  <a:pt x="47923" y="37505"/>
                </a:cubicBezTo>
                <a:cubicBezTo>
                  <a:pt x="59769" y="21015"/>
                  <a:pt x="71557" y="7799"/>
                  <a:pt x="80427" y="-1250"/>
                </a:cubicBezTo>
                <a:cubicBezTo>
                  <a:pt x="85308" y="-6251"/>
                  <a:pt x="90249" y="-11192"/>
                  <a:pt x="95607" y="-15657"/>
                </a:cubicBezTo>
                <a:close/>
                <a:moveTo>
                  <a:pt x="134362" y="247650"/>
                </a:moveTo>
                <a:cubicBezTo>
                  <a:pt x="149423" y="247650"/>
                  <a:pt x="162758" y="243483"/>
                  <a:pt x="175320" y="235148"/>
                </a:cubicBezTo>
                <a:cubicBezTo>
                  <a:pt x="200382" y="217646"/>
                  <a:pt x="207109" y="182642"/>
                  <a:pt x="192048" y="155138"/>
                </a:cubicBezTo>
                <a:cubicBezTo>
                  <a:pt x="189369" y="149781"/>
                  <a:pt x="182523" y="149423"/>
                  <a:pt x="178653" y="153948"/>
                </a:cubicBezTo>
                <a:lnTo>
                  <a:pt x="163651" y="171390"/>
                </a:lnTo>
                <a:cubicBezTo>
                  <a:pt x="159722" y="175915"/>
                  <a:pt x="152638" y="175796"/>
                  <a:pt x="148947" y="171093"/>
                </a:cubicBezTo>
                <a:cubicBezTo>
                  <a:pt x="138648" y="157936"/>
                  <a:pt x="119717" y="133945"/>
                  <a:pt x="110073" y="121682"/>
                </a:cubicBezTo>
                <a:cubicBezTo>
                  <a:pt x="106859" y="117574"/>
                  <a:pt x="101025" y="116919"/>
                  <a:pt x="97274" y="120551"/>
                </a:cubicBezTo>
                <a:cubicBezTo>
                  <a:pt x="86380" y="131147"/>
                  <a:pt x="66615" y="154365"/>
                  <a:pt x="66615" y="182642"/>
                </a:cubicBezTo>
                <a:cubicBezTo>
                  <a:pt x="66615" y="223480"/>
                  <a:pt x="96738" y="247650"/>
                  <a:pt x="134303" y="2476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0" y="26924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学习热力图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风格 90 天活跃度可视化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023600" y="3556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85750"/>
                </a:lnTo>
                <a:cubicBezTo>
                  <a:pt x="0" y="292596"/>
                  <a:pt x="3691" y="298966"/>
                  <a:pt x="9644" y="302300"/>
                </a:cubicBezTo>
                <a:cubicBezTo>
                  <a:pt x="15597" y="305633"/>
                  <a:pt x="22920" y="305574"/>
                  <a:pt x="28813" y="302062"/>
                </a:cubicBezTo>
                <a:lnTo>
                  <a:pt x="114300" y="250805"/>
                </a:lnTo>
                <a:lnTo>
                  <a:pt x="199727" y="302062"/>
                </a:lnTo>
                <a:cubicBezTo>
                  <a:pt x="205621" y="305574"/>
                  <a:pt x="212943" y="305693"/>
                  <a:pt x="218896" y="302300"/>
                </a:cubicBezTo>
                <a:cubicBezTo>
                  <a:pt x="224850" y="298906"/>
                  <a:pt x="228600" y="292596"/>
                  <a:pt x="228600" y="285750"/>
                </a:cubicBezTo>
                <a:lnTo>
                  <a:pt x="228600" y="38100"/>
                </a:lnTo>
                <a:cubicBezTo>
                  <a:pt x="228600" y="17085"/>
                  <a:pt x="211515" y="0"/>
                  <a:pt x="190500" y="0"/>
                </a:cubicBezTo>
                <a:lnTo>
                  <a:pt x="38100" y="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0" y="35179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代码收藏夹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一键收藏 + 标签分类 + 全文搜索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85500" y="438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0" y="43434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排行榜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总榜 / 月榜 / 周榜 + 前三奖牌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9855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0" y="51689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评测统计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耗时趋势图 + 错误类型分布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6858000"/>
            <a:ext cx="14732000" cy="1143000"/>
          </a:xfrm>
          <a:prstGeom prst="rect">
            <a:avLst/>
          </a:prstGeom>
          <a:gradFill rotWithShape="1" flip="none"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1270000" y="698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70000" y="762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编程语言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0" y="7112000"/>
            <a:ext cx="12700" cy="635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8"/>
          <p:cNvSpPr/>
          <p:nvPr/>
        </p:nvSpPr>
        <p:spPr>
          <a:xfrm>
            <a:off x="5080000" y="698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80000" y="762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课时关卡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7112000"/>
            <a:ext cx="12700" cy="635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1"/>
          <p:cNvSpPr/>
          <p:nvPr/>
        </p:nvSpPr>
        <p:spPr>
          <a:xfrm>
            <a:off x="8890000" y="698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90000" y="762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级匹配策略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192000" y="7112000"/>
            <a:ext cx="12700" cy="635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4"/>
          <p:cNvSpPr/>
          <p:nvPr/>
        </p:nvSpPr>
        <p:spPr>
          <a:xfrm>
            <a:off x="12700000" y="698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700000" y="762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沙箱隔离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0000"/>
                </a:srgbClr>
              </a:gs>
              <a:gs pos="60000">
                <a:srgbClr val="020617">
                  <a:alpha val="80000"/>
                </a:srgbClr>
              </a:gs>
              <a:gs pos="100000">
                <a:srgbClr val="020617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38BDF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4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AI导师与智能体工坊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48000" y="539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API驱动 · 92神经元节点 · 前置依赖解锁机制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0" y="6032500"/>
            <a:ext cx="762000" cy="381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智能导师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11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50800" cy="1397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5146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双引擎 AI 后端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49400" y="29845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API 主后端 + Ollama 本地模型降级，确保服务高可用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873500"/>
            <a:ext cx="711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3873500"/>
            <a:ext cx="50800" cy="1397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3625" y="412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549400" y="41021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自动错误分析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49400" y="45720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代码错误时自动触发 AI 分析，无需手动求助，即时反馈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461000"/>
            <a:ext cx="711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461000"/>
            <a:ext cx="50800" cy="1397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9175" y="5715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56896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独立对话历史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49400" y="61595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每道题独立对话历史，切换题目不丢失上下文，持续追踪学习进度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048500"/>
            <a:ext cx="7112000" cy="101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7048500"/>
            <a:ext cx="50800" cy="1016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9175" y="7264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7022" y="0"/>
                </a:moveTo>
                <a:cubicBezTo>
                  <a:pt x="42505" y="0"/>
                  <a:pt x="22572" y="19933"/>
                  <a:pt x="22572" y="44450"/>
                </a:cubicBezTo>
                <a:lnTo>
                  <a:pt x="22572" y="311150"/>
                </a:lnTo>
                <a:cubicBezTo>
                  <a:pt x="22572" y="335667"/>
                  <a:pt x="42505" y="355600"/>
                  <a:pt x="67022" y="355600"/>
                </a:cubicBezTo>
                <a:lnTo>
                  <a:pt x="244822" y="355600"/>
                </a:lnTo>
                <a:cubicBezTo>
                  <a:pt x="269339" y="355600"/>
                  <a:pt x="289272" y="335667"/>
                  <a:pt x="289272" y="311150"/>
                </a:cubicBezTo>
                <a:lnTo>
                  <a:pt x="289272" y="244475"/>
                </a:lnTo>
                <a:lnTo>
                  <a:pt x="343515" y="244475"/>
                </a:lnTo>
                <a:lnTo>
                  <a:pt x="321985" y="266005"/>
                </a:lnTo>
                <a:cubicBezTo>
                  <a:pt x="315456" y="272534"/>
                  <a:pt x="315456" y="283091"/>
                  <a:pt x="321985" y="289550"/>
                </a:cubicBezTo>
                <a:cubicBezTo>
                  <a:pt x="328513" y="296009"/>
                  <a:pt x="339070" y="296079"/>
                  <a:pt x="345529" y="289550"/>
                </a:cubicBezTo>
                <a:lnTo>
                  <a:pt x="395536" y="239544"/>
                </a:lnTo>
                <a:cubicBezTo>
                  <a:pt x="402064" y="233015"/>
                  <a:pt x="402064" y="222458"/>
                  <a:pt x="395536" y="215999"/>
                </a:cubicBezTo>
                <a:lnTo>
                  <a:pt x="345529" y="165993"/>
                </a:lnTo>
                <a:cubicBezTo>
                  <a:pt x="339001" y="159464"/>
                  <a:pt x="328444" y="159464"/>
                  <a:pt x="321985" y="165993"/>
                </a:cubicBezTo>
                <a:cubicBezTo>
                  <a:pt x="315526" y="172522"/>
                  <a:pt x="315456" y="183078"/>
                  <a:pt x="321985" y="189538"/>
                </a:cubicBezTo>
                <a:lnTo>
                  <a:pt x="343515" y="211068"/>
                </a:lnTo>
                <a:lnTo>
                  <a:pt x="289272" y="211068"/>
                </a:lnTo>
                <a:lnTo>
                  <a:pt x="289272" y="118348"/>
                </a:lnTo>
                <a:cubicBezTo>
                  <a:pt x="289272" y="106541"/>
                  <a:pt x="284619" y="95220"/>
                  <a:pt x="276285" y="86886"/>
                </a:cubicBezTo>
                <a:lnTo>
                  <a:pt x="202248" y="12988"/>
                </a:lnTo>
                <a:cubicBezTo>
                  <a:pt x="193913" y="4653"/>
                  <a:pt x="182662" y="0"/>
                  <a:pt x="170855" y="0"/>
                </a:cubicBezTo>
                <a:lnTo>
                  <a:pt x="67022" y="0"/>
                </a:lnTo>
                <a:close/>
                <a:moveTo>
                  <a:pt x="248642" y="122238"/>
                </a:moveTo>
                <a:lnTo>
                  <a:pt x="183704" y="122238"/>
                </a:lnTo>
                <a:cubicBezTo>
                  <a:pt x="174466" y="122238"/>
                  <a:pt x="167035" y="114806"/>
                  <a:pt x="167035" y="105569"/>
                </a:cubicBezTo>
                <a:lnTo>
                  <a:pt x="167035" y="40630"/>
                </a:lnTo>
                <a:lnTo>
                  <a:pt x="248642" y="122238"/>
                </a:lnTo>
                <a:close/>
                <a:moveTo>
                  <a:pt x="155922" y="227806"/>
                </a:moveTo>
                <a:cubicBezTo>
                  <a:pt x="155922" y="218569"/>
                  <a:pt x="163354" y="211138"/>
                  <a:pt x="172591" y="211138"/>
                </a:cubicBezTo>
                <a:lnTo>
                  <a:pt x="244822" y="211138"/>
                </a:lnTo>
                <a:lnTo>
                  <a:pt x="244822" y="244475"/>
                </a:lnTo>
                <a:lnTo>
                  <a:pt x="172591" y="244475"/>
                </a:lnTo>
                <a:cubicBezTo>
                  <a:pt x="163354" y="244475"/>
                  <a:pt x="155922" y="237044"/>
                  <a:pt x="155922" y="2278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1549400" y="7239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对话导出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49400" y="7620000"/>
            <a:ext cx="596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对话内容可导出为 Markdown 格式，方便复习整理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1778000"/>
            <a:ext cx="7112000" cy="635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0" y="1778000"/>
            <a:ext cx="7112000" cy="508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8763000" y="2159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导师工作流程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63000" y="2730500"/>
            <a:ext cx="6350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8763000" y="3048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98000" y="30226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用户提交代码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编写代码并提交至评测系统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17000" y="3810000"/>
            <a:ext cx="12700" cy="3175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8763000" y="4254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98000" y="42291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评测引擎执行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沙箱安全执行，6级匹配策略评分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17000" y="5016500"/>
            <a:ext cx="12700" cy="3175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8763000" y="5461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98000" y="54356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错误自动检测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执行失败时自动触发 AI 分析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17000" y="6223000"/>
            <a:ext cx="12700" cy="3175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8763000" y="6667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98000" y="66421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个性化辅导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分析错误原因，给出修复建议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17000" y="7366000"/>
            <a:ext cx="12700" cy="152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8763000" y="7556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98000" y="7531100"/>
            <a:ext cx="571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持续学习追踪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对话历史保留，进度不丢失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智能体工坊 · 8 主线 92 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8636000" cy="4508500"/>
        </p:xfrm>
        <a:graphic>
          <a:graphicData uri="http://schemas.openxmlformats.org/drawingml/2006/table">
            <a:tbl>
              <a:tblPr/>
              <a:tblGrid>
                <a:gridCol w="2590800"/>
                <a:gridCol w="1209040"/>
                <a:gridCol w="4836160"/>
              </a:tblGrid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主线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节点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方向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机器学习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数学基础 → 经典算法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D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Agent 开发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工具调用 → 多智能体协作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818C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大模型应用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Prompt → RAG 架构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84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深度学习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神经网络 → Transformer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472B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自然语言处理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文本预处理 → LLM 微调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计算机视觉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图像分类 → 目标检测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95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A3E6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强化学习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Q-Learning → PPO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3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8BDF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综合项目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真实项目实战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779000" y="1714500"/>
            <a:ext cx="5715000" cy="4508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9779000" y="1714500"/>
            <a:ext cx="5715000" cy="508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00965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96500" y="2540000"/>
            <a:ext cx="5080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7"/>
          <p:cNvSpPr/>
          <p:nvPr/>
        </p:nvSpPr>
        <p:spPr>
          <a:xfrm>
            <a:off x="10096500" y="2794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51594"/>
                </a:moveTo>
                <a:cubicBezTo>
                  <a:pt x="0" y="34503"/>
                  <a:pt x="13866" y="20638"/>
                  <a:pt x="30956" y="20638"/>
                </a:cubicBezTo>
                <a:lnTo>
                  <a:pt x="92869" y="20638"/>
                </a:lnTo>
                <a:cubicBezTo>
                  <a:pt x="109959" y="20638"/>
                  <a:pt x="123825" y="34503"/>
                  <a:pt x="123825" y="51594"/>
                </a:cubicBezTo>
                <a:lnTo>
                  <a:pt x="123825" y="61912"/>
                </a:lnTo>
                <a:lnTo>
                  <a:pt x="206375" y="61912"/>
                </a:lnTo>
                <a:lnTo>
                  <a:pt x="206375" y="51594"/>
                </a:lnTo>
                <a:cubicBezTo>
                  <a:pt x="206375" y="34503"/>
                  <a:pt x="220241" y="20638"/>
                  <a:pt x="237331" y="20638"/>
                </a:cubicBezTo>
                <a:lnTo>
                  <a:pt x="299244" y="20638"/>
                </a:lnTo>
                <a:cubicBezTo>
                  <a:pt x="316334" y="20638"/>
                  <a:pt x="330200" y="34503"/>
                  <a:pt x="330200" y="51594"/>
                </a:cubicBezTo>
                <a:lnTo>
                  <a:pt x="330200" y="113506"/>
                </a:lnTo>
                <a:cubicBezTo>
                  <a:pt x="330200" y="130597"/>
                  <a:pt x="316334" y="144463"/>
                  <a:pt x="299244" y="144463"/>
                </a:cubicBezTo>
                <a:lnTo>
                  <a:pt x="237331" y="144463"/>
                </a:lnTo>
                <a:cubicBezTo>
                  <a:pt x="220241" y="144463"/>
                  <a:pt x="206375" y="130597"/>
                  <a:pt x="206375" y="113506"/>
                </a:cubicBezTo>
                <a:lnTo>
                  <a:pt x="206375" y="103188"/>
                </a:lnTo>
                <a:lnTo>
                  <a:pt x="123825" y="103188"/>
                </a:lnTo>
                <a:lnTo>
                  <a:pt x="123825" y="113506"/>
                </a:lnTo>
                <a:cubicBezTo>
                  <a:pt x="123825" y="118214"/>
                  <a:pt x="122729" y="122729"/>
                  <a:pt x="120858" y="126727"/>
                </a:cubicBezTo>
                <a:lnTo>
                  <a:pt x="165100" y="185738"/>
                </a:lnTo>
                <a:lnTo>
                  <a:pt x="216694" y="185738"/>
                </a:lnTo>
                <a:cubicBezTo>
                  <a:pt x="233784" y="185738"/>
                  <a:pt x="247650" y="199603"/>
                  <a:pt x="247650" y="216694"/>
                </a:cubicBezTo>
                <a:lnTo>
                  <a:pt x="247650" y="278606"/>
                </a:lnTo>
                <a:cubicBezTo>
                  <a:pt x="247650" y="295697"/>
                  <a:pt x="233784" y="309563"/>
                  <a:pt x="216694" y="309563"/>
                </a:cubicBezTo>
                <a:lnTo>
                  <a:pt x="154781" y="309563"/>
                </a:lnTo>
                <a:cubicBezTo>
                  <a:pt x="137691" y="309563"/>
                  <a:pt x="123825" y="295697"/>
                  <a:pt x="123825" y="278606"/>
                </a:cubicBezTo>
                <a:lnTo>
                  <a:pt x="123825" y="216694"/>
                </a:lnTo>
                <a:cubicBezTo>
                  <a:pt x="123825" y="211986"/>
                  <a:pt x="124921" y="207471"/>
                  <a:pt x="126792" y="203473"/>
                </a:cubicBezTo>
                <a:lnTo>
                  <a:pt x="82550" y="144463"/>
                </a:lnTo>
                <a:lnTo>
                  <a:pt x="30956" y="144463"/>
                </a:lnTo>
                <a:cubicBezTo>
                  <a:pt x="13866" y="144463"/>
                  <a:pt x="0" y="130597"/>
                  <a:pt x="0" y="113506"/>
                </a:cubicBezTo>
                <a:lnTo>
                  <a:pt x="0" y="51594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10566400" y="27686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神经元网络地图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66400" y="31496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前置依赖解锁机制，按阶段推进学习，构建完整知识体系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096500" y="4000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/>
            </a:pathLst>
          </a:cu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566400" y="39751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能量评级系统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66400" y="43561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理解力 / 实现力 / 优化力 / 创造力 四维评分体系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75863" y="5207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32688" y="774"/>
                </a:moveTo>
                <a:cubicBezTo>
                  <a:pt x="221724" y="-2386"/>
                  <a:pt x="210309" y="3999"/>
                  <a:pt x="207149" y="14962"/>
                </a:cubicBezTo>
                <a:lnTo>
                  <a:pt x="124599" y="303887"/>
                </a:lnTo>
                <a:cubicBezTo>
                  <a:pt x="121439" y="314851"/>
                  <a:pt x="127824" y="326266"/>
                  <a:pt x="138787" y="329426"/>
                </a:cubicBezTo>
                <a:cubicBezTo>
                  <a:pt x="149751" y="332586"/>
                  <a:pt x="161166" y="326201"/>
                  <a:pt x="164326" y="315238"/>
                </a:cubicBezTo>
                <a:lnTo>
                  <a:pt x="246876" y="26313"/>
                </a:lnTo>
                <a:cubicBezTo>
                  <a:pt x="250036" y="15349"/>
                  <a:pt x="243651" y="3934"/>
                  <a:pt x="232688" y="774"/>
                </a:cubicBezTo>
                <a:close/>
                <a:moveTo>
                  <a:pt x="274350" y="88548"/>
                </a:moveTo>
                <a:cubicBezTo>
                  <a:pt x="266288" y="96609"/>
                  <a:pt x="266288" y="109701"/>
                  <a:pt x="274350" y="117763"/>
                </a:cubicBezTo>
                <a:lnTo>
                  <a:pt x="321687" y="165100"/>
                </a:lnTo>
                <a:lnTo>
                  <a:pt x="274350" y="212437"/>
                </a:lnTo>
                <a:cubicBezTo>
                  <a:pt x="266288" y="220499"/>
                  <a:pt x="266288" y="233591"/>
                  <a:pt x="274350" y="241652"/>
                </a:cubicBezTo>
                <a:cubicBezTo>
                  <a:pt x="282411" y="249714"/>
                  <a:pt x="295503" y="249714"/>
                  <a:pt x="303565" y="241652"/>
                </a:cubicBezTo>
                <a:lnTo>
                  <a:pt x="365477" y="179740"/>
                </a:lnTo>
                <a:cubicBezTo>
                  <a:pt x="373539" y="171678"/>
                  <a:pt x="373539" y="158586"/>
                  <a:pt x="365477" y="150525"/>
                </a:cubicBezTo>
                <a:lnTo>
                  <a:pt x="303565" y="88612"/>
                </a:lnTo>
                <a:cubicBezTo>
                  <a:pt x="295503" y="80551"/>
                  <a:pt x="282411" y="80551"/>
                  <a:pt x="274350" y="88612"/>
                </a:cubicBezTo>
                <a:close/>
                <a:moveTo>
                  <a:pt x="97190" y="88548"/>
                </a:moveTo>
                <a:cubicBezTo>
                  <a:pt x="89128" y="80486"/>
                  <a:pt x="76036" y="80486"/>
                  <a:pt x="67975" y="88548"/>
                </a:cubicBezTo>
                <a:lnTo>
                  <a:pt x="6062" y="150460"/>
                </a:lnTo>
                <a:cubicBezTo>
                  <a:pt x="-1999" y="158522"/>
                  <a:pt x="-1999" y="171614"/>
                  <a:pt x="6062" y="179675"/>
                </a:cubicBezTo>
                <a:lnTo>
                  <a:pt x="67975" y="241588"/>
                </a:lnTo>
                <a:cubicBezTo>
                  <a:pt x="76036" y="249649"/>
                  <a:pt x="89128" y="249649"/>
                  <a:pt x="97190" y="241588"/>
                </a:cubicBezTo>
                <a:cubicBezTo>
                  <a:pt x="105251" y="233526"/>
                  <a:pt x="105251" y="220434"/>
                  <a:pt x="97190" y="212373"/>
                </a:cubicBezTo>
                <a:lnTo>
                  <a:pt x="49852" y="165100"/>
                </a:lnTo>
                <a:lnTo>
                  <a:pt x="97125" y="117763"/>
                </a:lnTo>
                <a:cubicBezTo>
                  <a:pt x="105187" y="109701"/>
                  <a:pt x="105187" y="96609"/>
                  <a:pt x="97125" y="8854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66400" y="51816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节点独立评测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66400" y="55626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每个节点配备独立代码评测，确保学习质量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6540500"/>
            <a:ext cx="14732000" cy="1460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7"/>
          <p:cNvSpPr/>
          <p:nvPr/>
        </p:nvSpPr>
        <p:spPr>
          <a:xfrm>
            <a:off x="1079500" y="6667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节点状态流转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9500" y="7112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locked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BB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in_progress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mastered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0000"/>
                </a:srgbClr>
              </a:gs>
              <a:gs pos="60000">
                <a:srgbClr val="020617">
                  <a:alpha val="80000"/>
                </a:srgbClr>
              </a:gs>
              <a:gs pos="100000">
                <a:srgbClr val="020617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38BDF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4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ML实验室与管理后台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48000" y="539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JupyterLab容器化环境 · 数据仪表盘 · 全功能管理套件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0" y="6032500"/>
            <a:ext cx="762000" cy="381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机器学习实验室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容器化 JupyterLab 环境，内置 PyTorch，从理论到实践一站式完成机器学习实验。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699000" cy="2476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6670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063625" y="292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3403600"/>
            <a:ext cx="4140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JupyterLab + PyTorch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3810000"/>
            <a:ext cx="4140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全功能 JupyterLab 容器化环境，预装 PyTorch 框架，开箱即用无需配置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667000"/>
            <a:ext cx="4699000" cy="2476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2667000"/>
            <a:ext cx="4699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7900" y="292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311150"/>
                </a:moveTo>
                <a:lnTo>
                  <a:pt x="44450" y="311150"/>
                </a:lnTo>
                <a:lnTo>
                  <a:pt x="44450" y="155575"/>
                </a:lnTo>
                <a:lnTo>
                  <a:pt x="77788" y="155575"/>
                </a:lnTo>
                <a:lnTo>
                  <a:pt x="77788" y="111125"/>
                </a:lnTo>
                <a:lnTo>
                  <a:pt x="44450" y="111125"/>
                </a:lnTo>
                <a:cubicBezTo>
                  <a:pt x="19933" y="111125"/>
                  <a:pt x="0" y="131058"/>
                  <a:pt x="0" y="155575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00025" y="355600"/>
                </a:lnTo>
                <a:cubicBezTo>
                  <a:pt x="224542" y="355600"/>
                  <a:pt x="244475" y="335667"/>
                  <a:pt x="244475" y="311150"/>
                </a:cubicBezTo>
                <a:lnTo>
                  <a:pt x="244475" y="277813"/>
                </a:lnTo>
                <a:lnTo>
                  <a:pt x="200025" y="277813"/>
                </a:lnTo>
                <a:lnTo>
                  <a:pt x="200025" y="311150"/>
                </a:lnTo>
                <a:close/>
                <a:moveTo>
                  <a:pt x="155575" y="244475"/>
                </a:moveTo>
                <a:lnTo>
                  <a:pt x="311150" y="244475"/>
                </a:lnTo>
                <a:cubicBezTo>
                  <a:pt x="335667" y="244475"/>
                  <a:pt x="355600" y="224542"/>
                  <a:pt x="355600" y="200025"/>
                </a:cubicBezTo>
                <a:lnTo>
                  <a:pt x="355600" y="44450"/>
                </a:lnTo>
                <a:cubicBezTo>
                  <a:pt x="355600" y="19933"/>
                  <a:pt x="335667" y="0"/>
                  <a:pt x="311150" y="0"/>
                </a:cubicBezTo>
                <a:lnTo>
                  <a:pt x="155575" y="0"/>
                </a:lnTo>
                <a:cubicBezTo>
                  <a:pt x="131058" y="0"/>
                  <a:pt x="111125" y="19933"/>
                  <a:pt x="111125" y="44450"/>
                </a:cubicBezTo>
                <a:lnTo>
                  <a:pt x="111125" y="200025"/>
                </a:lnTo>
                <a:cubicBezTo>
                  <a:pt x="111125" y="224542"/>
                  <a:pt x="131058" y="244475"/>
                  <a:pt x="155575" y="2444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057900" y="3403600"/>
            <a:ext cx="4140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大主题模板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7900" y="3810000"/>
            <a:ext cx="4140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神经网络、CNN、RNN、NLP、推荐系统五大主题实验模板，降低入门门槛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667000"/>
            <a:ext cx="4699000" cy="2476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26670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96625" y="292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1074400" y="3403600"/>
            <a:ext cx="4140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合成数据生成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74400" y="3810000"/>
            <a:ext cx="4140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内置合成数据生成代码，无需准备数据集即可开始实验，快速验证算法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397500"/>
            <a:ext cx="7175500" cy="2476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397500"/>
            <a:ext cx="50800" cy="2476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3625" y="565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75912"/>
                </a:moveTo>
                <a:lnTo>
                  <a:pt x="177800" y="222250"/>
                </a:lnTo>
                <a:cubicBezTo>
                  <a:pt x="177800" y="234543"/>
                  <a:pt x="167868" y="244475"/>
                  <a:pt x="155575" y="244475"/>
                </a:cubicBezTo>
                <a:cubicBezTo>
                  <a:pt x="143282" y="244475"/>
                  <a:pt x="133350" y="234543"/>
                  <a:pt x="133350" y="222250"/>
                </a:cubicBezTo>
                <a:lnTo>
                  <a:pt x="133350" y="75912"/>
                </a:lnTo>
                <a:lnTo>
                  <a:pt x="104596" y="104666"/>
                </a:lnTo>
                <a:cubicBezTo>
                  <a:pt x="95915" y="113348"/>
                  <a:pt x="81816" y="113348"/>
                  <a:pt x="73134" y="104666"/>
                </a:cubicBezTo>
                <a:cubicBezTo>
                  <a:pt x="64453" y="95984"/>
                  <a:pt x="64453" y="81885"/>
                  <a:pt x="73134" y="73204"/>
                </a:cubicBezTo>
                <a:lnTo>
                  <a:pt x="139809" y="6529"/>
                </a:lnTo>
                <a:cubicBezTo>
                  <a:pt x="148491" y="-2153"/>
                  <a:pt x="162590" y="-2153"/>
                  <a:pt x="171271" y="6529"/>
                </a:cubicBezTo>
                <a:lnTo>
                  <a:pt x="237946" y="73204"/>
                </a:lnTo>
                <a:cubicBezTo>
                  <a:pt x="246628" y="81885"/>
                  <a:pt x="246628" y="95984"/>
                  <a:pt x="237946" y="104666"/>
                </a:cubicBezTo>
                <a:cubicBezTo>
                  <a:pt x="229265" y="113348"/>
                  <a:pt x="215166" y="113348"/>
                  <a:pt x="206484" y="104666"/>
                </a:cubicBezTo>
                <a:lnTo>
                  <a:pt x="177800" y="75912"/>
                </a:lnTo>
                <a:close/>
                <a:moveTo>
                  <a:pt x="155575" y="277813"/>
                </a:moveTo>
                <a:cubicBezTo>
                  <a:pt x="186273" y="277813"/>
                  <a:pt x="211138" y="252948"/>
                  <a:pt x="211138" y="222250"/>
                </a:cubicBezTo>
                <a:lnTo>
                  <a:pt x="266700" y="222250"/>
                </a:lnTo>
                <a:cubicBezTo>
                  <a:pt x="291217" y="222250"/>
                  <a:pt x="311150" y="242183"/>
                  <a:pt x="311150" y="2667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66700"/>
                </a:lnTo>
                <a:cubicBezTo>
                  <a:pt x="0" y="242183"/>
                  <a:pt x="19933" y="222250"/>
                  <a:pt x="44450" y="222250"/>
                </a:cubicBezTo>
                <a:lnTo>
                  <a:pt x="100013" y="222250"/>
                </a:lnTo>
                <a:cubicBezTo>
                  <a:pt x="100013" y="252948"/>
                  <a:pt x="124877" y="277813"/>
                  <a:pt x="155575" y="277813"/>
                </a:cubicBezTo>
                <a:close/>
                <a:moveTo>
                  <a:pt x="255587" y="294481"/>
                </a:moveTo>
                <a:cubicBezTo>
                  <a:pt x="264787" y="294481"/>
                  <a:pt x="272256" y="287012"/>
                  <a:pt x="272256" y="277813"/>
                </a:cubicBezTo>
                <a:cubicBezTo>
                  <a:pt x="272256" y="268613"/>
                  <a:pt x="264787" y="261144"/>
                  <a:pt x="255587" y="261144"/>
                </a:cubicBezTo>
                <a:cubicBezTo>
                  <a:pt x="246388" y="261144"/>
                  <a:pt x="238919" y="268613"/>
                  <a:pt x="238919" y="277813"/>
                </a:cubicBezTo>
                <a:cubicBezTo>
                  <a:pt x="238919" y="287012"/>
                  <a:pt x="246388" y="294481"/>
                  <a:pt x="255587" y="29448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" y="61341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自定义数据集上传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1400" y="6540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支持学生上传自定义 CSV / JSON 数据集，将个人数据带入实验场景，实现从课堂到真实项目的无缝过渡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8500" y="5397500"/>
            <a:ext cx="7175500" cy="2476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8318500" y="5397500"/>
            <a:ext cx="50800" cy="2476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8620125" y="565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22225"/>
                </a:moveTo>
                <a:cubicBezTo>
                  <a:pt x="177800" y="9932"/>
                  <a:pt x="167868" y="0"/>
                  <a:pt x="155575" y="0"/>
                </a:cubicBezTo>
                <a:cubicBezTo>
                  <a:pt x="143282" y="0"/>
                  <a:pt x="133350" y="9932"/>
                  <a:pt x="133350" y="22225"/>
                </a:cubicBezTo>
                <a:lnTo>
                  <a:pt x="133350" y="168563"/>
                </a:lnTo>
                <a:lnTo>
                  <a:pt x="104596" y="139809"/>
                </a:lnTo>
                <a:cubicBezTo>
                  <a:pt x="95915" y="131128"/>
                  <a:pt x="81816" y="131128"/>
                  <a:pt x="73134" y="139809"/>
                </a:cubicBezTo>
                <a:cubicBezTo>
                  <a:pt x="64453" y="148491"/>
                  <a:pt x="64453" y="162590"/>
                  <a:pt x="73134" y="171271"/>
                </a:cubicBezTo>
                <a:lnTo>
                  <a:pt x="139809" y="237946"/>
                </a:lnTo>
                <a:cubicBezTo>
                  <a:pt x="148491" y="246628"/>
                  <a:pt x="162590" y="246628"/>
                  <a:pt x="171271" y="237946"/>
                </a:cubicBezTo>
                <a:lnTo>
                  <a:pt x="237946" y="171271"/>
                </a:lnTo>
                <a:cubicBezTo>
                  <a:pt x="246628" y="162590"/>
                  <a:pt x="246628" y="148491"/>
                  <a:pt x="237946" y="139809"/>
                </a:cubicBezTo>
                <a:cubicBezTo>
                  <a:pt x="229265" y="131128"/>
                  <a:pt x="215166" y="131128"/>
                  <a:pt x="206484" y="139809"/>
                </a:cubicBezTo>
                <a:lnTo>
                  <a:pt x="177800" y="168563"/>
                </a:lnTo>
                <a:lnTo>
                  <a:pt x="177800" y="22225"/>
                </a:lnTo>
                <a:close/>
                <a:moveTo>
                  <a:pt x="44450" y="222250"/>
                </a:moveTo>
                <a:cubicBezTo>
                  <a:pt x="19933" y="222250"/>
                  <a:pt x="0" y="242183"/>
                  <a:pt x="0" y="266700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66700"/>
                </a:lnTo>
                <a:cubicBezTo>
                  <a:pt x="311150" y="242183"/>
                  <a:pt x="291217" y="222250"/>
                  <a:pt x="266700" y="222250"/>
                </a:cubicBezTo>
                <a:lnTo>
                  <a:pt x="234126" y="222250"/>
                </a:lnTo>
                <a:lnTo>
                  <a:pt x="194816" y="261560"/>
                </a:lnTo>
                <a:cubicBezTo>
                  <a:pt x="173147" y="283230"/>
                  <a:pt x="137934" y="283230"/>
                  <a:pt x="116265" y="261560"/>
                </a:cubicBezTo>
                <a:lnTo>
                  <a:pt x="77024" y="222250"/>
                </a:lnTo>
                <a:lnTo>
                  <a:pt x="44450" y="222250"/>
                </a:lnTo>
                <a:close/>
                <a:moveTo>
                  <a:pt x="255587" y="261144"/>
                </a:moveTo>
                <a:cubicBezTo>
                  <a:pt x="264787" y="261144"/>
                  <a:pt x="272256" y="268613"/>
                  <a:pt x="272256" y="277813"/>
                </a:cubicBezTo>
                <a:cubicBezTo>
                  <a:pt x="272256" y="287012"/>
                  <a:pt x="264787" y="294481"/>
                  <a:pt x="255587" y="294481"/>
                </a:cubicBezTo>
                <a:cubicBezTo>
                  <a:pt x="246388" y="294481"/>
                  <a:pt x="238919" y="287012"/>
                  <a:pt x="238919" y="277813"/>
                </a:cubicBezTo>
                <a:cubicBezTo>
                  <a:pt x="238919" y="268613"/>
                  <a:pt x="246388" y="261144"/>
                  <a:pt x="255587" y="261144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8597900" y="61341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实验成果自动保存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7900" y="65405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模型权重、可视化图表自动保存并可下载，实验成果不丢失，支持复现和分享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管理后台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全功能管理套件，覆盖平台运营的核心需求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1755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286000"/>
            <a:ext cx="50800" cy="2921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2540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数据仪表盘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3111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全局数据概览 + 7 天趋势图，实时掌握平台运营状态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000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全局概览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7天趋势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实时数据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0" y="2286000"/>
            <a:ext cx="71755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18500" y="2286000"/>
            <a:ext cx="50800" cy="2921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572500" y="2540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182100" y="2540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3300" y="3111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搜索 / 封禁 / 详情查看，精细化用户运营管理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23300" y="4000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搜索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封禁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详情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24500"/>
            <a:ext cx="71755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5524500"/>
            <a:ext cx="50800" cy="2794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625600" y="5778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课程管理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350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语言 CRUD 操作 + 编辑抽屉，灵活管理课程内容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7239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编辑抽屉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38BDF8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14语言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500" y="5524500"/>
            <a:ext cx="7175500" cy="279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8500" y="5524500"/>
            <a:ext cx="50800" cy="2794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74100" y="577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219392" y="206931"/>
                </a:moveTo>
                <a:cubicBezTo>
                  <a:pt x="224949" y="198041"/>
                  <a:pt x="222250" y="186293"/>
                  <a:pt x="213360" y="180658"/>
                </a:cubicBezTo>
                <a:cubicBezTo>
                  <a:pt x="204470" y="175022"/>
                  <a:pt x="192722" y="177800"/>
                  <a:pt x="187087" y="186690"/>
                </a:cubicBezTo>
                <a:lnTo>
                  <a:pt x="138351" y="264716"/>
                </a:lnTo>
                <a:lnTo>
                  <a:pt x="116919" y="236141"/>
                </a:lnTo>
                <a:cubicBezTo>
                  <a:pt x="110569" y="227727"/>
                  <a:pt x="98663" y="225981"/>
                  <a:pt x="90249" y="232331"/>
                </a:cubicBezTo>
                <a:cubicBezTo>
                  <a:pt x="81836" y="238681"/>
                  <a:pt x="80089" y="250587"/>
                  <a:pt x="86439" y="259001"/>
                </a:cubicBezTo>
                <a:lnTo>
                  <a:pt x="124539" y="309801"/>
                </a:lnTo>
                <a:cubicBezTo>
                  <a:pt x="128270" y="314801"/>
                  <a:pt x="134302" y="317659"/>
                  <a:pt x="140573" y="317421"/>
                </a:cubicBezTo>
                <a:cubicBezTo>
                  <a:pt x="146844" y="317183"/>
                  <a:pt x="152559" y="313849"/>
                  <a:pt x="155892" y="308451"/>
                </a:cubicBezTo>
                <a:lnTo>
                  <a:pt x="219392" y="20685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9182100" y="5778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提交审计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23300" y="6350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按状态 / 用户名查询 + 异常高亮 + 代码预览，全面监控提交质量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23300" y="7239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状态筛选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异常高亮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300" dirty="0">
                <a:solidFill>
                  <a:srgbClr val="22D3EE"/>
                </a:solidFill>
                <a:highlight>
                  <a:srgbClr val="1E293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代码预览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20617">
                  <a:alpha val="90000"/>
                </a:srgbClr>
              </a:gs>
              <a:gs pos="60000">
                <a:srgbClr val="020617">
                  <a:alpha val="80000"/>
                </a:srgbClr>
              </a:gs>
              <a:gs pos="100000">
                <a:srgbClr val="020617">
                  <a:alpha val="6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b="1" dirty="0">
                <a:solidFill>
                  <a:srgbClr val="38BDF8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4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技术架构与创新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48000" y="539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FastAPI异步架构 · Docker隔离执行 · 全功能零依赖前端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47000" y="6032500"/>
            <a:ext cx="762000" cy="381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技术栈与系统架构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2794000" cy="101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311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学习前端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416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 + TailwindCSS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Monaco Editor + Zustand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7000" y="2222500"/>
            <a:ext cx="2794000" cy="101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7000" y="2311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管理后台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7000" y="26416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 + Ant Design 6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Zustand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2000" y="2222500"/>
            <a:ext cx="2794000" cy="101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2000" y="2311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实验室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2000" y="26416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JupyterLab + PyTorch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容器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59000" y="3238500"/>
            <a:ext cx="0" cy="3810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334000" y="3238500"/>
            <a:ext cx="0" cy="3810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509000" y="3238500"/>
            <a:ext cx="0" cy="3810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159000" y="3619500"/>
            <a:ext cx="6350000" cy="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334000" y="3619500"/>
            <a:ext cx="0" cy="317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302000" y="3937000"/>
            <a:ext cx="4064000" cy="10795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3302000" y="40386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206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FastAPI Backend :8006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02000" y="4381500"/>
            <a:ext cx="406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0F172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SQLAlchemy 2.0 async + JWT + bcrypt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0F172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25+ API 端点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0" y="5016500"/>
            <a:ext cx="0" cy="3810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159000" y="5397500"/>
            <a:ext cx="6350000" cy="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59000" y="5397500"/>
            <a:ext cx="0" cy="317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334000" y="5397500"/>
            <a:ext cx="0" cy="317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509000" y="5397500"/>
            <a:ext cx="0" cy="317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16000" y="5715000"/>
            <a:ext cx="2286000" cy="9525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58039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 / PostgreSQL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096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开发 / 生产环境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PRAGMA foreign_keys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91000" y="5715000"/>
            <a:ext cx="2286000" cy="95250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1000" y="58039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Redis 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91000" y="6096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缓存层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/ Rate Limit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66000" y="5715000"/>
            <a:ext cx="2286000" cy="952500"/>
          </a:xfrm>
          <a:prstGeom prst="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6000" y="58039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沙箱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66000" y="60960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no-network / readonly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256MB / 64pids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414000" y="1714500"/>
            <a:ext cx="5080000" cy="641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14000" y="1714500"/>
            <a:ext cx="5080000" cy="508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10731500" y="2032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完整技术栈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31500" y="2540000"/>
            <a:ext cx="4445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10731500" y="2730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731500" y="3048000"/>
            <a:ext cx="444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SQLAlchemy 2.0 async + JWT + bcrypt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731500" y="3810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31500" y="41275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学习端: React 19 + TS + TailwindCSS 4 + Monaco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管理端: React 19 + Ant Design 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731500" y="5016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服务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31500" y="5334000"/>
            <a:ext cx="444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API + Ollama 双后端降级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31500" y="6096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安全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731500" y="6413500"/>
            <a:ext cx="444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Bearer Token + bcrypt 哈希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CORS 白名单 + 速率限制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Semaphore(10) 并发控制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五大亮点与创新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35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699000" cy="3175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47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语言代码沙箱评测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921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自研评测引擎支持 14 种编程语言的 Docker 沙箱隔离执行。每种语言有独立的 wrapper 模板和编译/运行命令配置。6 级智能匹配策略允许部分通过的答案获得比例分数。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3175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778000"/>
            <a:ext cx="4699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968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神经元网络解锁机制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921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智能体工坊的 92 个知识点节点构成有向无环图，每个节点的前置依赖可以是同轨道的 order 编号或其他轨道的节点 slug。5 种状态流转：locked → available → in_progress → completed → mastered。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778000"/>
            <a:ext cx="4699000" cy="3175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17780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968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47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Windows GBK 编码兼容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921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下 subprocess 执行 Python 代码时，错误输出为系统编码 (GBK/cp936)。通过二进制模式捕获 + _safe_decode 多编码尝试（utf-8 → gbk → cp936 → latin-1）彻底解决跨平台编码问题。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6600" y="5270500"/>
            <a:ext cx="46990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6600" y="5270500"/>
            <a:ext cx="4699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600" y="546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30600" y="5969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全功能零外部依赖前端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30600" y="6413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学习前端不依赖任何 UI 组件库——所有界面（玻璃拟态卡片、3D 悬浮效果、动画边框、星级评分、热力图、统计图表）均使用 TailwindCSS + 内联 SVG 实现，包体积小、加载快。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93100" y="5270500"/>
            <a:ext cx="4699000" cy="292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93100" y="5270500"/>
            <a:ext cx="4699000" cy="381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547100" y="5461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7100" y="5969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增量种子数据系统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47100" y="6413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种子服务支持增量更新——已存在的语言/课时不会被重复插入，新增语言自动追加。前置依赖支持数字（order）和字符串（slug）两种引用方式，按文件逐个翻译为数据库 ID。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6614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415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/>
              </a:gs>
              <a:gs pos="100000">
                <a:srgbClr val="020617"/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gradFill rotWithShape="1" flip="none">
            <a:gsLst>
              <a:gs pos="0">
                <a:srgbClr val="38BDF8"/>
              </a:gs>
              <a:gs pos="100000">
                <a:srgbClr val="22D3EE"/>
              </a:gs>
            </a:gsLst>
            <a:lin ang="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400" kern="0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CodeQuest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4445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让编程学习像游戏一样有趣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207000"/>
            <a:ext cx="2540000" cy="38100"/>
          </a:xfrm>
          <a:prstGeom prst="rect">
            <a:avLst/>
          </a:prstGeom>
          <a:gradFill rotWithShape="1" flip="none">
            <a:gsLst>
              <a:gs pos="0">
                <a:srgbClr val="22D3EE"/>
              </a:gs>
              <a:gs pos="100000">
                <a:srgbClr val="38BDF8"/>
              </a:gs>
            </a:gsLst>
            <a:lin ang="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3683000" y="57150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编程语言 · 258 关卡 · AI 导师 · Docker 沙箱 · 92 神经元节点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8000" y="711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3341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CodeQuest ©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codequest.pptd</dc:title>
  <dc:subject>codequest.pptd</dc:subject>
  <dc:creator>Kimi</dc:creator>
  <cp:lastModifiedBy>Kimi</cp:lastModifiedBy>
  <cp:revision>1</cp:revision>
  <dcterms:created xsi:type="dcterms:W3CDTF">2026-06-11T05:37:09Z</dcterms:created>
  <dcterms:modified xsi:type="dcterms:W3CDTF">2026-06-11T05:37:09Z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{"Label":"codequest.pptd","ContentProducer":"001191110108MACG2KBH8F10000","ProduceID":"19eb04bb-ada2-8ef5-8000-0000f5ab6150","ReservedCode1":"","ContentPropagator":"001191110108MACG2KBH8F20000","PropagateID":"19eb04bb-ada2-8ef5-8000-0000f5ab6150","ReservedCode2":""}</vt:lpwstr>
  </property>
</Properties>
</file>